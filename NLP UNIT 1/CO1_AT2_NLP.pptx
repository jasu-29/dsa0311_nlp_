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flectional Morphology" id="{DA4A25CA-AF87-83D2-813E-AE3B6E61DE96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87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4475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82880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chemeClr val="accent2"/>
                </a:solidFill>
              </a:rPr>
              <a:t>LINGUISTICS  |  MORPHOLOGY</a:t>
            </a:r>
            <a:endParaRPr lang="en-US" sz="14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82880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</a:rPr>
              <a:t>Inflectional Morphology</a:t>
            </a:r>
            <a:endParaRPr lang="en-US" sz="54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374904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6"/>
                </a:solidFill>
              </a:rPr>
              <a:t>How a word changes its shape to show grammar, such as past time or more than one, while it stays the same word</a:t>
            </a:r>
            <a:endParaRPr lang="en-US" sz="2000" dirty="0"/>
          </a:p>
        </p:txBody>
      </p:sp>
      <p:sp>
        <p:nvSpPr>
          <p:cNvPr id="5" name="Agenda"/>
          <p:cNvSpPr txBox="1"/>
          <p:nvPr/>
        </p:nvSpPr>
        <p:spPr>
          <a:xfrm>
            <a:off x="548640" y="6188737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Meaning  ·  Inflection vs Derivation  ·  What it shows  ·  Ways words change  ·  Summary</a:t>
            </a:r>
            <a:endParaRPr lang="en-US" sz="1400" dirty="0"/>
          </a:p>
        </p:txBody>
      </p:sp>
      <p:sp>
        <p:nvSpPr>
          <p:cNvPr id="6" name="Demo label"/>
          <p:cNvSpPr txBox="1"/>
          <p:nvPr/>
        </p:nvSpPr>
        <p:spPr>
          <a:xfrm>
            <a:off x="7772400" y="1417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2"/>
                </a:solidFill>
              </a:rPr>
              <a:t>ONE WORD, MANY SHAPES</a:t>
            </a:r>
            <a:endParaRPr lang="en-US" sz="1300" dirty="0"/>
          </a:p>
        </p:txBody>
      </p:sp>
      <p:sp>
        <p:nvSpPr>
          <p:cNvPr id="7" name="Stem chip 1"/>
          <p:cNvSpPr/>
          <p:nvPr/>
        </p:nvSpPr>
        <p:spPr>
          <a:xfrm>
            <a:off x="7772400" y="1965960"/>
            <a:ext cx="1371600" cy="6858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tem 1"/>
          <p:cNvSpPr txBox="1"/>
          <p:nvPr/>
        </p:nvSpPr>
        <p:spPr>
          <a:xfrm>
            <a:off x="7772400" y="19659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walk</a:t>
            </a:r>
            <a:endParaRPr lang="en-US" sz="2400" dirty="0"/>
          </a:p>
        </p:txBody>
      </p:sp>
      <p:sp>
        <p:nvSpPr>
          <p:cNvPr id="9" name="Suffix chip 1"/>
          <p:cNvSpPr/>
          <p:nvPr/>
        </p:nvSpPr>
        <p:spPr>
          <a:xfrm>
            <a:off x="9235440" y="1965960"/>
            <a:ext cx="1188720" cy="6858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uffix 1"/>
          <p:cNvSpPr txBox="1"/>
          <p:nvPr/>
        </p:nvSpPr>
        <p:spPr>
          <a:xfrm>
            <a:off x="9235440" y="196596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-s</a:t>
            </a:r>
            <a:endParaRPr lang="en-US" sz="2400" dirty="0"/>
          </a:p>
        </p:txBody>
      </p:sp>
      <p:sp>
        <p:nvSpPr>
          <p:cNvPr id="11" name="Chip caption 1"/>
          <p:cNvSpPr txBox="1"/>
          <p:nvPr/>
        </p:nvSpPr>
        <p:spPr>
          <a:xfrm>
            <a:off x="7772400" y="27157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she walks (one person, happening now)</a:t>
            </a:r>
            <a:endParaRPr lang="en-US" sz="1300" dirty="0"/>
          </a:p>
        </p:txBody>
      </p:sp>
      <p:sp>
        <p:nvSpPr>
          <p:cNvPr id="12" name="Stem chip 2"/>
          <p:cNvSpPr/>
          <p:nvPr/>
        </p:nvSpPr>
        <p:spPr>
          <a:xfrm>
            <a:off x="7772400" y="3246120"/>
            <a:ext cx="1371600" cy="6858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tem 2"/>
          <p:cNvSpPr txBox="1"/>
          <p:nvPr/>
        </p:nvSpPr>
        <p:spPr>
          <a:xfrm>
            <a:off x="7772400" y="32461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walk</a:t>
            </a:r>
            <a:endParaRPr lang="en-US" sz="2400" dirty="0"/>
          </a:p>
        </p:txBody>
      </p:sp>
      <p:sp>
        <p:nvSpPr>
          <p:cNvPr id="14" name="Suffix chip 2"/>
          <p:cNvSpPr/>
          <p:nvPr/>
        </p:nvSpPr>
        <p:spPr>
          <a:xfrm>
            <a:off x="9235440" y="3246120"/>
            <a:ext cx="1188720" cy="6858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uffix 2"/>
          <p:cNvSpPr txBox="1"/>
          <p:nvPr/>
        </p:nvSpPr>
        <p:spPr>
          <a:xfrm>
            <a:off x="9235440" y="324612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-ed</a:t>
            </a:r>
            <a:endParaRPr lang="en-US" sz="2400" dirty="0"/>
          </a:p>
        </p:txBody>
      </p:sp>
      <p:sp>
        <p:nvSpPr>
          <p:cNvPr id="16" name="Chip caption 2"/>
          <p:cNvSpPr txBox="1"/>
          <p:nvPr/>
        </p:nvSpPr>
        <p:spPr>
          <a:xfrm>
            <a:off x="7772400" y="399592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she walked (it happened in the past)</a:t>
            </a:r>
            <a:endParaRPr lang="en-US" sz="1300" dirty="0"/>
          </a:p>
        </p:txBody>
      </p:sp>
      <p:sp>
        <p:nvSpPr>
          <p:cNvPr id="17" name="Stem chip 3"/>
          <p:cNvSpPr/>
          <p:nvPr/>
        </p:nvSpPr>
        <p:spPr>
          <a:xfrm>
            <a:off x="7772400" y="4526280"/>
            <a:ext cx="1371600" cy="6858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tem 3"/>
          <p:cNvSpPr txBox="1"/>
          <p:nvPr/>
        </p:nvSpPr>
        <p:spPr>
          <a:xfrm>
            <a:off x="7772400" y="45262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walk</a:t>
            </a:r>
            <a:endParaRPr lang="en-US" sz="2400" dirty="0"/>
          </a:p>
        </p:txBody>
      </p:sp>
      <p:sp>
        <p:nvSpPr>
          <p:cNvPr id="19" name="Suffix chip 3"/>
          <p:cNvSpPr/>
          <p:nvPr/>
        </p:nvSpPr>
        <p:spPr>
          <a:xfrm>
            <a:off x="9235440" y="4526280"/>
            <a:ext cx="1188720" cy="6858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uffix 3"/>
          <p:cNvSpPr txBox="1"/>
          <p:nvPr/>
        </p:nvSpPr>
        <p:spPr>
          <a:xfrm>
            <a:off x="9235440" y="45262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-ing</a:t>
            </a:r>
            <a:endParaRPr lang="en-US" sz="2400" dirty="0"/>
          </a:p>
        </p:txBody>
      </p:sp>
      <p:sp>
        <p:nvSpPr>
          <p:cNvPr id="21" name="Chip caption 3"/>
          <p:cNvSpPr txBox="1"/>
          <p:nvPr/>
        </p:nvSpPr>
        <p:spPr>
          <a:xfrm>
            <a:off x="7772400" y="527608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she is walking (happening right now)</a:t>
            </a:r>
            <a:endParaRPr lang="en-US" sz="13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FE26B3-5BFE-FAEC-98DE-013E559217BC}"/>
              </a:ext>
            </a:extLst>
          </p:cNvPr>
          <p:cNvSpPr txBox="1"/>
          <p:nvPr/>
        </p:nvSpPr>
        <p:spPr>
          <a:xfrm>
            <a:off x="487680" y="4949797"/>
            <a:ext cx="3612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Presented By:</a:t>
            </a:r>
          </a:p>
          <a:p>
            <a:r>
              <a:rPr lang="en-US" dirty="0">
                <a:solidFill>
                  <a:schemeClr val="bg1"/>
                </a:solidFill>
              </a:rPr>
              <a:t>M.J.Jasmin(192425229)</a:t>
            </a:r>
            <a:endParaRPr lang="en-IN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Is Inflection?</a:t>
            </a:r>
            <a:endParaRPr lang="en-US" sz="3600" dirty="0"/>
          </a:p>
        </p:txBody>
      </p:sp>
      <p:sp>
        <p:nvSpPr>
          <p:cNvPr id="3" name="Definition"/>
          <p:cNvSpPr txBox="1"/>
          <p:nvPr/>
        </p:nvSpPr>
        <p:spPr>
          <a:xfrm>
            <a:off x="548640" y="137160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Morphology is the study of how words are built. Inflection means changing a word a little, usually its ending, to show grammar such as past time or more than one. The word's basic meaning stays the same.</a:t>
            </a:r>
            <a:endParaRPr lang="en-US" sz="1700" dirty="0"/>
          </a:p>
        </p:txBody>
      </p:sp>
      <p:sp>
        <p:nvSpPr>
          <p:cNvPr id="4" name="Key points"/>
          <p:cNvSpPr txBox="1"/>
          <p:nvPr/>
        </p:nvSpPr>
        <p:spPr>
          <a:xfrm>
            <a:off x="548640" y="2606040"/>
            <a:ext cx="69494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Same word, different shapes: </a:t>
            </a:r>
            <a:r>
              <a:rPr lang="en-US" sz="1600" dirty="0">
                <a:solidFill>
                  <a:schemeClr val="tx1"/>
                </a:solidFill>
              </a:rPr>
              <a:t>walk, walks, walked, and walking are all forms of the one word "walk".</a:t>
            </a:r>
            <a:endParaRPr lang="en-US" sz="1600" dirty="0"/>
          </a:p>
          <a:p>
            <a:pPr marL="0" indent="0">
              <a:spcAft>
                <a:spcPts val="1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Same word type: </a:t>
            </a:r>
            <a:r>
              <a:rPr lang="en-US" sz="1600" dirty="0">
                <a:solidFill>
                  <a:schemeClr val="tx1"/>
                </a:solidFill>
              </a:rPr>
              <a:t>a verb is still a verb, and a noun is still a noun, after the change.</a:t>
            </a:r>
            <a:endParaRPr lang="en-US" sz="1600" dirty="0"/>
          </a:p>
          <a:p>
            <a:pPr marL="0" indent="0">
              <a:spcAft>
                <a:spcPts val="1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Same basic meaning: </a:t>
            </a:r>
            <a:r>
              <a:rPr lang="en-US" sz="1600" dirty="0">
                <a:solidFill>
                  <a:schemeClr val="tx1"/>
                </a:solidFill>
              </a:rPr>
              <a:t>"cats" still means cat. Only the grammar changes (one becomes many).</a:t>
            </a:r>
            <a:endParaRPr lang="en-US" sz="1600" dirty="0"/>
          </a:p>
          <a:p>
            <a:pPr marL="0" indent="0">
              <a:spcAft>
                <a:spcPts val="1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Follows rules: </a:t>
            </a:r>
            <a:r>
              <a:rPr lang="en-US" sz="1600" dirty="0">
                <a:solidFill>
                  <a:schemeClr val="tx1"/>
                </a:solidFill>
              </a:rPr>
              <a:t>most words change in the same way (cat → cats, dog → dogs).</a:t>
            </a:r>
            <a:endParaRPr lang="en-US" sz="1600" dirty="0"/>
          </a:p>
          <a:p>
            <a:pPr marL="0" indent="0">
              <a:spcAft>
                <a:spcPts val="1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Grammar needs it: </a:t>
            </a:r>
            <a:r>
              <a:rPr lang="en-US" sz="1600" dirty="0">
                <a:solidFill>
                  <a:schemeClr val="tx1"/>
                </a:solidFill>
              </a:rPr>
              <a:t>we cannot say "She walk". We must say "She walks".</a:t>
            </a:r>
            <a:endParaRPr lang="en-US" sz="1600" dirty="0"/>
          </a:p>
          <a:p>
            <a:pPr marL="0" indent="0">
              <a:spcAft>
                <a:spcPts val="1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Base form: </a:t>
            </a:r>
            <a:r>
              <a:rPr lang="en-US" sz="1600" dirty="0">
                <a:solidFill>
                  <a:schemeClr val="tx1"/>
                </a:solidFill>
              </a:rPr>
              <a:t>the plain form you find in a dictionary (like "walk") is called the base form.</a:t>
            </a:r>
            <a:endParaRPr lang="en-US" sz="1600" dirty="0"/>
          </a:p>
        </p:txBody>
      </p:sp>
      <p:sp>
        <p:nvSpPr>
          <p:cNvPr id="5" name="Example card"/>
          <p:cNvSpPr/>
          <p:nvPr/>
        </p:nvSpPr>
        <p:spPr>
          <a:xfrm>
            <a:off x="7955280" y="1371600"/>
            <a:ext cx="3685032" cy="4800600"/>
          </a:xfrm>
          <a:prstGeom prst="roundRect">
            <a:avLst>
              <a:gd name="adj" fmla="val 29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Card label"/>
          <p:cNvSpPr txBox="1"/>
          <p:nvPr/>
        </p:nvSpPr>
        <p:spPr>
          <a:xfrm>
            <a:off x="822960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1"/>
                </a:solidFill>
              </a:rPr>
              <a:t>EXAMPLES</a:t>
            </a:r>
            <a:endParaRPr lang="en-US" sz="1200" dirty="0"/>
          </a:p>
        </p:txBody>
      </p:sp>
      <p:sp>
        <p:nvSpPr>
          <p:cNvPr id="7" name="Example 1"/>
          <p:cNvSpPr txBox="1"/>
          <p:nvPr/>
        </p:nvSpPr>
        <p:spPr>
          <a:xfrm>
            <a:off x="8229600" y="19659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talk + s = talks</a:t>
            </a:r>
            <a:endParaRPr lang="en-US" sz="2400" dirty="0"/>
          </a:p>
        </p:txBody>
      </p:sp>
      <p:sp>
        <p:nvSpPr>
          <p:cNvPr id="8" name="Example 1 note"/>
          <p:cNvSpPr txBox="1"/>
          <p:nvPr/>
        </p:nvSpPr>
        <p:spPr>
          <a:xfrm>
            <a:off x="8229600" y="2468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 ending -s shows one person doing it now (she talks).</a:t>
            </a:r>
            <a:endParaRPr lang="en-US" sz="1400" dirty="0"/>
          </a:p>
        </p:txBody>
      </p:sp>
      <p:sp>
        <p:nvSpPr>
          <p:cNvPr id="9" name="Example 2"/>
          <p:cNvSpPr txBox="1"/>
          <p:nvPr/>
        </p:nvSpPr>
        <p:spPr>
          <a:xfrm>
            <a:off x="8229600" y="3291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book + s = books</a:t>
            </a:r>
            <a:endParaRPr lang="en-US" sz="2400" dirty="0"/>
          </a:p>
        </p:txBody>
      </p:sp>
      <p:sp>
        <p:nvSpPr>
          <p:cNvPr id="10" name="Example 2 note"/>
          <p:cNvSpPr txBox="1"/>
          <p:nvPr/>
        </p:nvSpPr>
        <p:spPr>
          <a:xfrm>
            <a:off x="8229600" y="37947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 ending -s shows more than one thing.</a:t>
            </a:r>
            <a:endParaRPr lang="en-US" sz="1400" dirty="0"/>
          </a:p>
        </p:txBody>
      </p:sp>
      <p:sp>
        <p:nvSpPr>
          <p:cNvPr id="11" name="Example 3"/>
          <p:cNvSpPr txBox="1"/>
          <p:nvPr/>
        </p:nvSpPr>
        <p:spPr>
          <a:xfrm>
            <a:off x="8229600" y="4617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tall + er = taller</a:t>
            </a:r>
            <a:endParaRPr lang="en-US" sz="2400" dirty="0"/>
          </a:p>
        </p:txBody>
      </p:sp>
      <p:sp>
        <p:nvSpPr>
          <p:cNvPr id="12" name="Example 3 note"/>
          <p:cNvSpPr txBox="1"/>
          <p:nvPr/>
        </p:nvSpPr>
        <p:spPr>
          <a:xfrm>
            <a:off x="8229600" y="5120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 ending -er shows "more tall" than another.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Inflection vs Derivation</a:t>
            </a:r>
            <a:endParaRPr lang="en-US" sz="3600" dirty="0"/>
          </a:p>
        </p:txBody>
      </p:sp>
      <p:graphicFrame>
        <p:nvGraphicFramePr>
          <p:cNvPr id="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3968496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Question</a:t>
                      </a:r>
                      <a:endParaRPr lang="en-US" sz="15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Inflection (same word)</a:t>
                      </a:r>
                      <a:endParaRPr lang="en-US" sz="15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Derivation (new word)</a:t>
                      </a:r>
                      <a:endParaRPr lang="en-US" sz="15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What does it do?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Changes the grammar, such as time or number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Makes a brand-new word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Does the word type change?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No. walk → walked (verb stays a verb)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Often yes. happy → happiness (adjective becomes noun)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Does the meaning change?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No, the basic meaning stays the same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Yes. teach → teacher (a person who teaches)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How regular is it?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Very regular; works for almost all words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Works only for some words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Where does the ending go?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At the very end: teacher + s = teachers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Closer to the main word: teach + er = teacher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Dictionary entry?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Shares one entry: walk, walks, walked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Usually has its own entry: teach and teacher</a:t>
                      </a:r>
                      <a:endParaRPr lang="en-US" sz="1400" dirty="0"/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Rule box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Rule text"/>
          <p:cNvSpPr txBox="1"/>
          <p:nvPr/>
        </p:nvSpPr>
        <p:spPr>
          <a:xfrm>
            <a:off x="77724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Easy rule: </a:t>
            </a:r>
            <a:r>
              <a:rPr lang="en-US" sz="1500" dirty="0">
                <a:solidFill>
                  <a:schemeClr val="tx2"/>
                </a:solidFill>
              </a:rPr>
              <a:t>if the change only fits the word into the grammar of the sentence, it is inflection. If it makes a new word, it is derivation.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Inflection Shows</a:t>
            </a:r>
            <a:endParaRPr lang="en-US" sz="3600" dirty="0"/>
          </a:p>
        </p:txBody>
      </p:sp>
      <p:sp>
        <p:nvSpPr>
          <p:cNvPr id="3" name="Category card 1"/>
          <p:cNvSpPr/>
          <p:nvPr/>
        </p:nvSpPr>
        <p:spPr>
          <a:xfrm>
            <a:off x="548640" y="1325880"/>
            <a:ext cx="356616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Category badge 1"/>
          <p:cNvSpPr/>
          <p:nvPr/>
        </p:nvSpPr>
        <p:spPr>
          <a:xfrm>
            <a:off x="777240" y="150876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Badge number 1"/>
          <p:cNvSpPr txBox="1"/>
          <p:nvPr/>
        </p:nvSpPr>
        <p:spPr>
          <a:xfrm>
            <a:off x="7772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Category title 1"/>
          <p:cNvSpPr txBox="1"/>
          <p:nvPr/>
        </p:nvSpPr>
        <p:spPr>
          <a:xfrm>
            <a:off x="1371600" y="15087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Nouns &amp; Pronouns</a:t>
            </a:r>
            <a:endParaRPr lang="en-US" sz="1800" dirty="0"/>
          </a:p>
        </p:txBody>
      </p:sp>
      <p:sp>
        <p:nvSpPr>
          <p:cNvPr id="7" name="Category list 1"/>
          <p:cNvSpPr txBox="1"/>
          <p:nvPr/>
        </p:nvSpPr>
        <p:spPr>
          <a:xfrm>
            <a:off x="822960" y="2148840"/>
            <a:ext cx="3108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Number: </a:t>
            </a:r>
            <a:r>
              <a:rPr lang="en-US" sz="1600" dirty="0">
                <a:solidFill>
                  <a:schemeClr val="tx1"/>
                </a:solidFill>
              </a:rPr>
              <a:t>one or many (book → books)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Role in sentence: </a:t>
            </a:r>
            <a:r>
              <a:rPr lang="en-US" sz="1600" dirty="0">
                <a:solidFill>
                  <a:schemeClr val="tx1"/>
                </a:solidFill>
              </a:rPr>
              <a:t>he → him → his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Male or female: </a:t>
            </a:r>
            <a:r>
              <a:rPr lang="en-US" sz="1600" dirty="0">
                <a:solidFill>
                  <a:schemeClr val="tx1"/>
                </a:solidFill>
              </a:rPr>
              <a:t>Spanish niño → niña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Ownership: </a:t>
            </a:r>
            <a:r>
              <a:rPr lang="en-US" sz="1600" dirty="0">
                <a:solidFill>
                  <a:schemeClr val="tx1"/>
                </a:solidFill>
              </a:rPr>
              <a:t>Ravi → Ravi's</a:t>
            </a:r>
            <a:endParaRPr lang="en-US" sz="1600" dirty="0"/>
          </a:p>
        </p:txBody>
      </p:sp>
      <p:sp>
        <p:nvSpPr>
          <p:cNvPr id="8" name="Category card 2"/>
          <p:cNvSpPr/>
          <p:nvPr/>
        </p:nvSpPr>
        <p:spPr>
          <a:xfrm>
            <a:off x="4297680" y="1325880"/>
            <a:ext cx="356616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Category badge 2"/>
          <p:cNvSpPr/>
          <p:nvPr/>
        </p:nvSpPr>
        <p:spPr>
          <a:xfrm>
            <a:off x="4526280" y="150876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 number 2"/>
          <p:cNvSpPr txBox="1"/>
          <p:nvPr/>
        </p:nvSpPr>
        <p:spPr>
          <a:xfrm>
            <a:off x="45262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Category title 2"/>
          <p:cNvSpPr txBox="1"/>
          <p:nvPr/>
        </p:nvSpPr>
        <p:spPr>
          <a:xfrm>
            <a:off x="5120640" y="15087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Verbs</a:t>
            </a:r>
            <a:endParaRPr lang="en-US" sz="1800" dirty="0"/>
          </a:p>
        </p:txBody>
      </p:sp>
      <p:sp>
        <p:nvSpPr>
          <p:cNvPr id="12" name="Category list 2"/>
          <p:cNvSpPr txBox="1"/>
          <p:nvPr/>
        </p:nvSpPr>
        <p:spPr>
          <a:xfrm>
            <a:off x="4572000" y="2148840"/>
            <a:ext cx="3108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Time: </a:t>
            </a:r>
            <a:r>
              <a:rPr lang="en-US" sz="1600" dirty="0">
                <a:solidFill>
                  <a:schemeClr val="tx1"/>
                </a:solidFill>
              </a:rPr>
              <a:t>walk → walked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Ongoing action: </a:t>
            </a:r>
            <a:r>
              <a:rPr lang="en-US" sz="1600" dirty="0">
                <a:solidFill>
                  <a:schemeClr val="tx1"/>
                </a:solidFill>
              </a:rPr>
              <a:t>walking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Who does it: </a:t>
            </a:r>
            <a:r>
              <a:rPr lang="en-US" sz="1600" dirty="0">
                <a:solidFill>
                  <a:schemeClr val="tx1"/>
                </a:solidFill>
              </a:rPr>
              <a:t>I walk → she walks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Finished action: </a:t>
            </a:r>
            <a:r>
              <a:rPr lang="en-US" sz="1600" dirty="0">
                <a:solidFill>
                  <a:schemeClr val="tx1"/>
                </a:solidFill>
              </a:rPr>
              <a:t>take → has taken</a:t>
            </a:r>
            <a:endParaRPr lang="en-US" sz="1600" dirty="0"/>
          </a:p>
        </p:txBody>
      </p:sp>
      <p:sp>
        <p:nvSpPr>
          <p:cNvPr id="13" name="Category card 3"/>
          <p:cNvSpPr/>
          <p:nvPr/>
        </p:nvSpPr>
        <p:spPr>
          <a:xfrm>
            <a:off x="8046720" y="1325880"/>
            <a:ext cx="356616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Category badge 3"/>
          <p:cNvSpPr/>
          <p:nvPr/>
        </p:nvSpPr>
        <p:spPr>
          <a:xfrm>
            <a:off x="8275320" y="150876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 number 3"/>
          <p:cNvSpPr txBox="1"/>
          <p:nvPr/>
        </p:nvSpPr>
        <p:spPr>
          <a:xfrm>
            <a:off x="82753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Category title 3"/>
          <p:cNvSpPr txBox="1"/>
          <p:nvPr/>
        </p:nvSpPr>
        <p:spPr>
          <a:xfrm>
            <a:off x="8869680" y="15087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Adjectives</a:t>
            </a:r>
            <a:endParaRPr lang="en-US" sz="1800" dirty="0"/>
          </a:p>
        </p:txBody>
      </p:sp>
      <p:sp>
        <p:nvSpPr>
          <p:cNvPr id="17" name="Category list 3"/>
          <p:cNvSpPr txBox="1"/>
          <p:nvPr/>
        </p:nvSpPr>
        <p:spPr>
          <a:xfrm>
            <a:off x="8321040" y="2148840"/>
            <a:ext cx="3108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Degree: </a:t>
            </a:r>
            <a:r>
              <a:rPr lang="en-US" sz="1600" dirty="0">
                <a:solidFill>
                  <a:schemeClr val="tx1"/>
                </a:solidFill>
              </a:rPr>
              <a:t>big → bigger → biggest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Matching the noun: </a:t>
            </a:r>
            <a:r>
              <a:rPr lang="en-US" sz="1600" dirty="0">
                <a:solidFill>
                  <a:schemeClr val="tx1"/>
                </a:solidFill>
              </a:rPr>
              <a:t>in French, grand → grande for a female noun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In English, </a:t>
            </a:r>
            <a:r>
              <a:rPr lang="en-US" sz="1600" dirty="0">
                <a:solidFill>
                  <a:schemeClr val="tx1"/>
                </a:solidFill>
              </a:rPr>
              <a:t>adjectives only show degree.</a:t>
            </a:r>
            <a:endParaRPr lang="en-US" sz="1600" dirty="0"/>
          </a:p>
        </p:txBody>
      </p:sp>
      <p:sp>
        <p:nvSpPr>
          <p:cNvPr id="18" name="Suffix heading"/>
          <p:cNvSpPr txBox="1"/>
          <p:nvPr/>
        </p:nvSpPr>
        <p:spPr>
          <a:xfrm>
            <a:off x="548640" y="4572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English has only eight inflectional endings</a:t>
            </a:r>
            <a:endParaRPr lang="en-US" sz="1800" dirty="0"/>
          </a:p>
        </p:txBody>
      </p:sp>
      <p:sp>
        <p:nvSpPr>
          <p:cNvPr id="19" name="Suffix chip 1"/>
          <p:cNvSpPr/>
          <p:nvPr/>
        </p:nvSpPr>
        <p:spPr>
          <a:xfrm>
            <a:off x="548640" y="5029200"/>
            <a:ext cx="1263015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uffix 1"/>
          <p:cNvSpPr txBox="1"/>
          <p:nvPr/>
        </p:nvSpPr>
        <p:spPr>
          <a:xfrm>
            <a:off x="548640" y="5102352"/>
            <a:ext cx="1263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2"/>
                </a:solidFill>
              </a:rPr>
              <a:t>-s</a:t>
            </a:r>
            <a:endParaRPr lang="en-US" sz="2400" dirty="0"/>
          </a:p>
        </p:txBody>
      </p:sp>
      <p:sp>
        <p:nvSpPr>
          <p:cNvPr id="21" name="Suffix caption 1"/>
          <p:cNvSpPr txBox="1"/>
          <p:nvPr/>
        </p:nvSpPr>
        <p:spPr>
          <a:xfrm>
            <a:off x="594360" y="5623560"/>
            <a:ext cx="1171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many: cats</a:t>
            </a:r>
            <a:endParaRPr lang="en-US" sz="1200" dirty="0"/>
          </a:p>
        </p:txBody>
      </p:sp>
      <p:sp>
        <p:nvSpPr>
          <p:cNvPr id="22" name="Suffix chip 2"/>
          <p:cNvSpPr/>
          <p:nvPr/>
        </p:nvSpPr>
        <p:spPr>
          <a:xfrm>
            <a:off x="1948815" y="5029200"/>
            <a:ext cx="1263015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uffix 2"/>
          <p:cNvSpPr txBox="1"/>
          <p:nvPr/>
        </p:nvSpPr>
        <p:spPr>
          <a:xfrm>
            <a:off x="1948815" y="5102352"/>
            <a:ext cx="1263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2"/>
                </a:solidFill>
              </a:rPr>
              <a:t>-'s</a:t>
            </a:r>
            <a:endParaRPr lang="en-US" sz="2400" dirty="0"/>
          </a:p>
        </p:txBody>
      </p:sp>
      <p:sp>
        <p:nvSpPr>
          <p:cNvPr id="24" name="Suffix caption 2"/>
          <p:cNvSpPr txBox="1"/>
          <p:nvPr/>
        </p:nvSpPr>
        <p:spPr>
          <a:xfrm>
            <a:off x="1994535" y="5623560"/>
            <a:ext cx="1171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belongs to: Ravi's</a:t>
            </a:r>
            <a:endParaRPr lang="en-US" sz="1200" dirty="0"/>
          </a:p>
        </p:txBody>
      </p:sp>
      <p:sp>
        <p:nvSpPr>
          <p:cNvPr id="25" name="Suffix chip 3"/>
          <p:cNvSpPr/>
          <p:nvPr/>
        </p:nvSpPr>
        <p:spPr>
          <a:xfrm>
            <a:off x="3348990" y="5029200"/>
            <a:ext cx="1263015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uffix 3"/>
          <p:cNvSpPr txBox="1"/>
          <p:nvPr/>
        </p:nvSpPr>
        <p:spPr>
          <a:xfrm>
            <a:off x="3348990" y="5102352"/>
            <a:ext cx="1263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2"/>
                </a:solidFill>
              </a:rPr>
              <a:t>-s</a:t>
            </a:r>
            <a:endParaRPr lang="en-US" sz="2400" dirty="0"/>
          </a:p>
        </p:txBody>
      </p:sp>
      <p:sp>
        <p:nvSpPr>
          <p:cNvPr id="27" name="Suffix caption 3"/>
          <p:cNvSpPr txBox="1"/>
          <p:nvPr/>
        </p:nvSpPr>
        <p:spPr>
          <a:xfrm>
            <a:off x="3394710" y="5623560"/>
            <a:ext cx="1171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he/she/it: walks</a:t>
            </a:r>
            <a:endParaRPr lang="en-US" sz="1200" dirty="0"/>
          </a:p>
        </p:txBody>
      </p:sp>
      <p:sp>
        <p:nvSpPr>
          <p:cNvPr id="28" name="Suffix chip 4"/>
          <p:cNvSpPr/>
          <p:nvPr/>
        </p:nvSpPr>
        <p:spPr>
          <a:xfrm>
            <a:off x="4749165" y="5029200"/>
            <a:ext cx="1263015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uffix 4"/>
          <p:cNvSpPr txBox="1"/>
          <p:nvPr/>
        </p:nvSpPr>
        <p:spPr>
          <a:xfrm>
            <a:off x="4749165" y="5102352"/>
            <a:ext cx="1263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2"/>
                </a:solidFill>
              </a:rPr>
              <a:t>-ed</a:t>
            </a:r>
            <a:endParaRPr lang="en-US" sz="2400" dirty="0"/>
          </a:p>
        </p:txBody>
      </p:sp>
      <p:sp>
        <p:nvSpPr>
          <p:cNvPr id="30" name="Suffix caption 4"/>
          <p:cNvSpPr txBox="1"/>
          <p:nvPr/>
        </p:nvSpPr>
        <p:spPr>
          <a:xfrm>
            <a:off x="4794885" y="5623560"/>
            <a:ext cx="1171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past: walked</a:t>
            </a:r>
            <a:endParaRPr lang="en-US" sz="1200" dirty="0"/>
          </a:p>
        </p:txBody>
      </p:sp>
      <p:sp>
        <p:nvSpPr>
          <p:cNvPr id="31" name="Suffix chip 5"/>
          <p:cNvSpPr/>
          <p:nvPr/>
        </p:nvSpPr>
        <p:spPr>
          <a:xfrm>
            <a:off x="6149340" y="5029200"/>
            <a:ext cx="1263015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uffix 5"/>
          <p:cNvSpPr txBox="1"/>
          <p:nvPr/>
        </p:nvSpPr>
        <p:spPr>
          <a:xfrm>
            <a:off x="6149340" y="5102352"/>
            <a:ext cx="1263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2"/>
                </a:solidFill>
              </a:rPr>
              <a:t>-ing</a:t>
            </a:r>
            <a:endParaRPr lang="en-US" sz="2400" dirty="0"/>
          </a:p>
        </p:txBody>
      </p:sp>
      <p:sp>
        <p:nvSpPr>
          <p:cNvPr id="33" name="Suffix caption 5"/>
          <p:cNvSpPr txBox="1"/>
          <p:nvPr/>
        </p:nvSpPr>
        <p:spPr>
          <a:xfrm>
            <a:off x="6195060" y="5623560"/>
            <a:ext cx="1171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ongoing: walking</a:t>
            </a:r>
            <a:endParaRPr lang="en-US" sz="1200" dirty="0"/>
          </a:p>
        </p:txBody>
      </p:sp>
      <p:sp>
        <p:nvSpPr>
          <p:cNvPr id="34" name="Suffix chip 6"/>
          <p:cNvSpPr/>
          <p:nvPr/>
        </p:nvSpPr>
        <p:spPr>
          <a:xfrm>
            <a:off x="7549515" y="5029200"/>
            <a:ext cx="1263015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Suffix 6"/>
          <p:cNvSpPr txBox="1"/>
          <p:nvPr/>
        </p:nvSpPr>
        <p:spPr>
          <a:xfrm>
            <a:off x="7549515" y="5102352"/>
            <a:ext cx="1263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2"/>
                </a:solidFill>
              </a:rPr>
              <a:t>-en</a:t>
            </a:r>
            <a:endParaRPr lang="en-US" sz="2400" dirty="0"/>
          </a:p>
        </p:txBody>
      </p:sp>
      <p:sp>
        <p:nvSpPr>
          <p:cNvPr id="36" name="Suffix caption 6"/>
          <p:cNvSpPr txBox="1"/>
          <p:nvPr/>
        </p:nvSpPr>
        <p:spPr>
          <a:xfrm>
            <a:off x="7595235" y="5623560"/>
            <a:ext cx="1171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finished: taken</a:t>
            </a:r>
            <a:endParaRPr lang="en-US" sz="1200" dirty="0"/>
          </a:p>
        </p:txBody>
      </p:sp>
      <p:sp>
        <p:nvSpPr>
          <p:cNvPr id="37" name="Suffix chip 7"/>
          <p:cNvSpPr/>
          <p:nvPr/>
        </p:nvSpPr>
        <p:spPr>
          <a:xfrm>
            <a:off x="8949690" y="5029200"/>
            <a:ext cx="1263015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uffix 7"/>
          <p:cNvSpPr txBox="1"/>
          <p:nvPr/>
        </p:nvSpPr>
        <p:spPr>
          <a:xfrm>
            <a:off x="8949690" y="5102352"/>
            <a:ext cx="1263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2"/>
                </a:solidFill>
              </a:rPr>
              <a:t>-er</a:t>
            </a:r>
            <a:endParaRPr lang="en-US" sz="2400" dirty="0"/>
          </a:p>
        </p:txBody>
      </p:sp>
      <p:sp>
        <p:nvSpPr>
          <p:cNvPr id="39" name="Suffix caption 7"/>
          <p:cNvSpPr txBox="1"/>
          <p:nvPr/>
        </p:nvSpPr>
        <p:spPr>
          <a:xfrm>
            <a:off x="8995410" y="5623560"/>
            <a:ext cx="1171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more: taller</a:t>
            </a:r>
            <a:endParaRPr lang="en-US" sz="1200" dirty="0"/>
          </a:p>
        </p:txBody>
      </p:sp>
      <p:sp>
        <p:nvSpPr>
          <p:cNvPr id="40" name="Suffix chip 8"/>
          <p:cNvSpPr/>
          <p:nvPr/>
        </p:nvSpPr>
        <p:spPr>
          <a:xfrm>
            <a:off x="10349865" y="5029200"/>
            <a:ext cx="1263015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uffix 8"/>
          <p:cNvSpPr txBox="1"/>
          <p:nvPr/>
        </p:nvSpPr>
        <p:spPr>
          <a:xfrm>
            <a:off x="10349865" y="5102352"/>
            <a:ext cx="1263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2"/>
                </a:solidFill>
              </a:rPr>
              <a:t>-est</a:t>
            </a:r>
            <a:endParaRPr lang="en-US" sz="2400" dirty="0"/>
          </a:p>
        </p:txBody>
      </p:sp>
      <p:sp>
        <p:nvSpPr>
          <p:cNvPr id="42" name="Suffix caption 8"/>
          <p:cNvSpPr txBox="1"/>
          <p:nvPr/>
        </p:nvSpPr>
        <p:spPr>
          <a:xfrm>
            <a:off x="10395585" y="5623560"/>
            <a:ext cx="1171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most: tallest</a:t>
            </a:r>
            <a:endParaRPr lang="en-US" sz="12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Ways a Word Can Change</a:t>
            </a:r>
            <a:endParaRPr lang="en-US" sz="3600" dirty="0"/>
          </a:p>
        </p:txBody>
      </p:sp>
      <p:sp>
        <p:nvSpPr>
          <p:cNvPr id="3" name="Process card 1"/>
          <p:cNvSpPr/>
          <p:nvPr/>
        </p:nvSpPr>
        <p:spPr>
          <a:xfrm>
            <a:off x="548640" y="132588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Process badge 1"/>
          <p:cNvSpPr/>
          <p:nvPr/>
        </p:nvSpPr>
        <p:spPr>
          <a:xfrm>
            <a:off x="777240" y="1508760"/>
            <a:ext cx="411480" cy="411480"/>
          </a:xfrm>
          <a:prstGeom prst="roundRect">
            <a:avLst>
              <a:gd name="adj" fmla="val 48889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Process number 1"/>
          <p:cNvSpPr txBox="1"/>
          <p:nvPr/>
        </p:nvSpPr>
        <p:spPr>
          <a:xfrm>
            <a:off x="77724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Process title 1"/>
          <p:cNvSpPr txBox="1"/>
          <p:nvPr/>
        </p:nvSpPr>
        <p:spPr>
          <a:xfrm>
            <a:off x="1325880" y="15087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Adding an ending</a:t>
            </a:r>
            <a:endParaRPr lang="en-US" sz="1800" dirty="0"/>
          </a:p>
        </p:txBody>
      </p:sp>
      <p:sp>
        <p:nvSpPr>
          <p:cNvPr id="7" name="Process text 1"/>
          <p:cNvSpPr txBox="1"/>
          <p:nvPr/>
        </p:nvSpPr>
        <p:spPr>
          <a:xfrm>
            <a:off x="822960" y="2057400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Add a small piece to the end of the word: walk → walked, cat → cats. This is the most common way.</a:t>
            </a:r>
            <a:endParaRPr lang="en-US" sz="1600" dirty="0"/>
          </a:p>
        </p:txBody>
      </p:sp>
      <p:sp>
        <p:nvSpPr>
          <p:cNvPr id="8" name="Process card 2"/>
          <p:cNvSpPr/>
          <p:nvPr/>
        </p:nvSpPr>
        <p:spPr>
          <a:xfrm>
            <a:off x="4297680" y="132588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Process badge 2"/>
          <p:cNvSpPr/>
          <p:nvPr/>
        </p:nvSpPr>
        <p:spPr>
          <a:xfrm>
            <a:off x="4526280" y="1508760"/>
            <a:ext cx="411480" cy="411480"/>
          </a:xfrm>
          <a:prstGeom prst="roundRect">
            <a:avLst>
              <a:gd name="adj" fmla="val 48889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Process number 2"/>
          <p:cNvSpPr txBox="1"/>
          <p:nvPr/>
        </p:nvSpPr>
        <p:spPr>
          <a:xfrm>
            <a:off x="452628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Process title 2"/>
          <p:cNvSpPr txBox="1"/>
          <p:nvPr/>
        </p:nvSpPr>
        <p:spPr>
          <a:xfrm>
            <a:off x="5074920" y="15087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Changing the middle</a:t>
            </a:r>
            <a:endParaRPr lang="en-US" sz="1800" dirty="0"/>
          </a:p>
        </p:txBody>
      </p:sp>
      <p:sp>
        <p:nvSpPr>
          <p:cNvPr id="12" name="Process text 2"/>
          <p:cNvSpPr txBox="1"/>
          <p:nvPr/>
        </p:nvSpPr>
        <p:spPr>
          <a:xfrm>
            <a:off x="4572000" y="2057400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Change a vowel inside the word: sing → sang, foot → feet, mouse → mice.</a:t>
            </a:r>
            <a:endParaRPr lang="en-US" sz="1600" dirty="0"/>
          </a:p>
        </p:txBody>
      </p:sp>
      <p:sp>
        <p:nvSpPr>
          <p:cNvPr id="13" name="Process card 3"/>
          <p:cNvSpPr/>
          <p:nvPr/>
        </p:nvSpPr>
        <p:spPr>
          <a:xfrm>
            <a:off x="8046720" y="132588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Process badge 3"/>
          <p:cNvSpPr/>
          <p:nvPr/>
        </p:nvSpPr>
        <p:spPr>
          <a:xfrm>
            <a:off x="8275320" y="1508760"/>
            <a:ext cx="411480" cy="411480"/>
          </a:xfrm>
          <a:prstGeom prst="roundRect">
            <a:avLst>
              <a:gd name="adj" fmla="val 48889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Process number 3"/>
          <p:cNvSpPr txBox="1"/>
          <p:nvPr/>
        </p:nvSpPr>
        <p:spPr>
          <a:xfrm>
            <a:off x="827532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Process title 3"/>
          <p:cNvSpPr txBox="1"/>
          <p:nvPr/>
        </p:nvSpPr>
        <p:spPr>
          <a:xfrm>
            <a:off x="8823960" y="15087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Using a different word</a:t>
            </a:r>
            <a:endParaRPr lang="en-US" sz="1800" dirty="0"/>
          </a:p>
        </p:txBody>
      </p:sp>
      <p:sp>
        <p:nvSpPr>
          <p:cNvPr id="17" name="Process text 3"/>
          <p:cNvSpPr txBox="1"/>
          <p:nvPr/>
        </p:nvSpPr>
        <p:spPr>
          <a:xfrm>
            <a:off x="8321040" y="2057400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The new form looks very different: go → went, good → better, am → was. These must be learned by heart.</a:t>
            </a:r>
            <a:endParaRPr lang="en-US" sz="1600" dirty="0"/>
          </a:p>
        </p:txBody>
      </p:sp>
      <p:sp>
        <p:nvSpPr>
          <p:cNvPr id="18" name="Process card 4"/>
          <p:cNvSpPr/>
          <p:nvPr/>
        </p:nvSpPr>
        <p:spPr>
          <a:xfrm>
            <a:off x="548640" y="384048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Process badge 4"/>
          <p:cNvSpPr/>
          <p:nvPr/>
        </p:nvSpPr>
        <p:spPr>
          <a:xfrm>
            <a:off x="777240" y="4023360"/>
            <a:ext cx="411480" cy="411480"/>
          </a:xfrm>
          <a:prstGeom prst="roundRect">
            <a:avLst>
              <a:gd name="adj" fmla="val 48889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Process number 4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Process title 4"/>
          <p:cNvSpPr txBox="1"/>
          <p:nvPr/>
        </p:nvSpPr>
        <p:spPr>
          <a:xfrm>
            <a:off x="132588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Repeating the word</a:t>
            </a:r>
            <a:endParaRPr lang="en-US" sz="1800" dirty="0"/>
          </a:p>
        </p:txBody>
      </p:sp>
      <p:sp>
        <p:nvSpPr>
          <p:cNvPr id="22" name="Process text 4"/>
          <p:cNvSpPr txBox="1"/>
          <p:nvPr/>
        </p:nvSpPr>
        <p:spPr>
          <a:xfrm>
            <a:off x="822960" y="4572000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Say the word twice to show "many". In Indonesian, orang (person) becomes orang-orang (people).</a:t>
            </a:r>
            <a:endParaRPr lang="en-US" sz="1600" dirty="0"/>
          </a:p>
        </p:txBody>
      </p:sp>
      <p:sp>
        <p:nvSpPr>
          <p:cNvPr id="23" name="Process card 5"/>
          <p:cNvSpPr/>
          <p:nvPr/>
        </p:nvSpPr>
        <p:spPr>
          <a:xfrm>
            <a:off x="4297680" y="384048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Process badge 5"/>
          <p:cNvSpPr/>
          <p:nvPr/>
        </p:nvSpPr>
        <p:spPr>
          <a:xfrm>
            <a:off x="4526280" y="4023360"/>
            <a:ext cx="411480" cy="411480"/>
          </a:xfrm>
          <a:prstGeom prst="roundRect">
            <a:avLst>
              <a:gd name="adj" fmla="val 48889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Process number 5"/>
          <p:cNvSpPr txBox="1"/>
          <p:nvPr/>
        </p:nvSpPr>
        <p:spPr>
          <a:xfrm>
            <a:off x="452628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Process title 5"/>
          <p:cNvSpPr txBox="1"/>
          <p:nvPr/>
        </p:nvSpPr>
        <p:spPr>
          <a:xfrm>
            <a:off x="507492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No change at all</a:t>
            </a:r>
            <a:endParaRPr lang="en-US" sz="1800" dirty="0"/>
          </a:p>
        </p:txBody>
      </p:sp>
      <p:sp>
        <p:nvSpPr>
          <p:cNvPr id="27" name="Process text 5"/>
          <p:cNvSpPr txBox="1"/>
          <p:nvPr/>
        </p:nvSpPr>
        <p:spPr>
          <a:xfrm>
            <a:off x="4572000" y="4572000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Some words keep the same shape: sheep (one or many) and cut (now or in the past).</a:t>
            </a:r>
            <a:endParaRPr lang="en-US" sz="1600" dirty="0"/>
          </a:p>
        </p:txBody>
      </p:sp>
      <p:sp>
        <p:nvSpPr>
          <p:cNvPr id="28" name="Process card 6"/>
          <p:cNvSpPr/>
          <p:nvPr/>
        </p:nvSpPr>
        <p:spPr>
          <a:xfrm>
            <a:off x="8046720" y="384048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Process badge 6"/>
          <p:cNvSpPr/>
          <p:nvPr/>
        </p:nvSpPr>
        <p:spPr>
          <a:xfrm>
            <a:off x="8275320" y="4023360"/>
            <a:ext cx="411480" cy="411480"/>
          </a:xfrm>
          <a:prstGeom prst="roundRect">
            <a:avLst>
              <a:gd name="adj" fmla="val 48889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Process number 6"/>
          <p:cNvSpPr txBox="1"/>
          <p:nvPr/>
        </p:nvSpPr>
        <p:spPr>
          <a:xfrm>
            <a:off x="827532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Process title 6"/>
          <p:cNvSpPr txBox="1"/>
          <p:nvPr/>
        </p:nvSpPr>
        <p:spPr>
          <a:xfrm>
            <a:off x="882396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Different languages</a:t>
            </a:r>
            <a:endParaRPr lang="en-US" sz="1800" dirty="0"/>
          </a:p>
        </p:txBody>
      </p:sp>
      <p:sp>
        <p:nvSpPr>
          <p:cNvPr id="32" name="Process text 6"/>
          <p:cNvSpPr txBox="1"/>
          <p:nvPr/>
        </p:nvSpPr>
        <p:spPr>
          <a:xfrm>
            <a:off x="8321040" y="4572000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Chinese uses very few endings. Turkish joins many: ev-ler-im-de means "in my houses". Latin packs several meanings into one ending.</a:t>
            </a:r>
            <a:endParaRPr lang="en-US" sz="16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Summary</a:t>
            </a:r>
            <a:endParaRPr lang="en-US" sz="3600" dirty="0"/>
          </a:p>
        </p:txBody>
      </p:sp>
      <p:sp>
        <p:nvSpPr>
          <p:cNvPr id="3" name="Takeaway card 1"/>
          <p:cNvSpPr/>
          <p:nvPr/>
        </p:nvSpPr>
        <p:spPr>
          <a:xfrm>
            <a:off x="548640" y="1371600"/>
            <a:ext cx="6858000" cy="1051560"/>
          </a:xfrm>
          <a:prstGeom prst="roundRect">
            <a:avLst>
              <a:gd name="adj" fmla="val 10435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akeaway badge 1"/>
          <p:cNvSpPr/>
          <p:nvPr/>
        </p:nvSpPr>
        <p:spPr>
          <a:xfrm>
            <a:off x="777240" y="1645920"/>
            <a:ext cx="50292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akeaway number 1"/>
          <p:cNvSpPr txBox="1"/>
          <p:nvPr/>
        </p:nvSpPr>
        <p:spPr>
          <a:xfrm>
            <a:off x="7772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akeaway text 1"/>
          <p:cNvSpPr txBox="1"/>
          <p:nvPr/>
        </p:nvSpPr>
        <p:spPr>
          <a:xfrm>
            <a:off x="1508760" y="1444752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Same word, new shape</a:t>
            </a:r>
            <a:endParaRPr lang="en-US" sz="1700" dirty="0"/>
          </a:p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Inflection changes the form of a word to fit the grammar. It does not make a new word.</a:t>
            </a:r>
            <a:endParaRPr lang="en-US" sz="1700" dirty="0"/>
          </a:p>
        </p:txBody>
      </p:sp>
      <p:sp>
        <p:nvSpPr>
          <p:cNvPr id="7" name="Takeaway card 2"/>
          <p:cNvSpPr/>
          <p:nvPr/>
        </p:nvSpPr>
        <p:spPr>
          <a:xfrm>
            <a:off x="548640" y="2560320"/>
            <a:ext cx="6858000" cy="1051560"/>
          </a:xfrm>
          <a:prstGeom prst="roundRect">
            <a:avLst>
              <a:gd name="adj" fmla="val 10435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akeaway badge 2"/>
          <p:cNvSpPr/>
          <p:nvPr/>
        </p:nvSpPr>
        <p:spPr>
          <a:xfrm>
            <a:off x="777240" y="2834640"/>
            <a:ext cx="50292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akeaway number 2"/>
          <p:cNvSpPr txBox="1"/>
          <p:nvPr/>
        </p:nvSpPr>
        <p:spPr>
          <a:xfrm>
            <a:off x="7772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akeaway text 2"/>
          <p:cNvSpPr txBox="1"/>
          <p:nvPr/>
        </p:nvSpPr>
        <p:spPr>
          <a:xfrm>
            <a:off x="1508760" y="2633472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Meaning stays the same</a:t>
            </a:r>
            <a:endParaRPr lang="en-US" sz="1700" dirty="0"/>
          </a:p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The word type and basic meaning stay the same, and the changes follow clear rules.</a:t>
            </a:r>
            <a:endParaRPr lang="en-US" sz="1700" dirty="0"/>
          </a:p>
        </p:txBody>
      </p:sp>
      <p:sp>
        <p:nvSpPr>
          <p:cNvPr id="11" name="Takeaway card 3"/>
          <p:cNvSpPr/>
          <p:nvPr/>
        </p:nvSpPr>
        <p:spPr>
          <a:xfrm>
            <a:off x="548640" y="3749040"/>
            <a:ext cx="6858000" cy="1051560"/>
          </a:xfrm>
          <a:prstGeom prst="roundRect">
            <a:avLst>
              <a:gd name="adj" fmla="val 10435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akeaway badge 3"/>
          <p:cNvSpPr/>
          <p:nvPr/>
        </p:nvSpPr>
        <p:spPr>
          <a:xfrm>
            <a:off x="777240" y="4023360"/>
            <a:ext cx="50292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akeaway number 3"/>
          <p:cNvSpPr txBox="1"/>
          <p:nvPr/>
        </p:nvSpPr>
        <p:spPr>
          <a:xfrm>
            <a:off x="7772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akeaway text 3"/>
          <p:cNvSpPr txBox="1"/>
          <p:nvPr/>
        </p:nvSpPr>
        <p:spPr>
          <a:xfrm>
            <a:off x="1508760" y="3822192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Not the same as derivation</a:t>
            </a:r>
            <a:endParaRPr lang="en-US" sz="1700" dirty="0"/>
          </a:p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Derivation makes new words (teach → teacher). Inflection does not.</a:t>
            </a:r>
            <a:endParaRPr lang="en-US" sz="1700" dirty="0"/>
          </a:p>
        </p:txBody>
      </p:sp>
      <p:sp>
        <p:nvSpPr>
          <p:cNvPr id="15" name="Takeaway card 4"/>
          <p:cNvSpPr/>
          <p:nvPr/>
        </p:nvSpPr>
        <p:spPr>
          <a:xfrm>
            <a:off x="548640" y="4937760"/>
            <a:ext cx="6858000" cy="1051560"/>
          </a:xfrm>
          <a:prstGeom prst="roundRect">
            <a:avLst>
              <a:gd name="adj" fmla="val 10435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akeaway badge 4"/>
          <p:cNvSpPr/>
          <p:nvPr/>
        </p:nvSpPr>
        <p:spPr>
          <a:xfrm>
            <a:off x="777240" y="5212080"/>
            <a:ext cx="50292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akeaway number 4"/>
          <p:cNvSpPr txBox="1"/>
          <p:nvPr/>
        </p:nvSpPr>
        <p:spPr>
          <a:xfrm>
            <a:off x="777240" y="5212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akeaway text 4"/>
          <p:cNvSpPr txBox="1"/>
          <p:nvPr/>
        </p:nvSpPr>
        <p:spPr>
          <a:xfrm>
            <a:off x="1508760" y="5010912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Many ways to change</a:t>
            </a:r>
            <a:endParaRPr lang="en-US" sz="1700" dirty="0"/>
          </a:p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Endings, vowel changes, a different word, repeating, or no change at all.</a:t>
            </a:r>
            <a:endParaRPr lang="en-US" sz="1700" dirty="0"/>
          </a:p>
        </p:txBody>
      </p:sp>
      <p:sp>
        <p:nvSpPr>
          <p:cNvPr id="19" name="Why it matters card"/>
          <p:cNvSpPr/>
          <p:nvPr/>
        </p:nvSpPr>
        <p:spPr>
          <a:xfrm>
            <a:off x="7772400" y="1371600"/>
            <a:ext cx="3867912" cy="4526280"/>
          </a:xfrm>
          <a:prstGeom prst="roundRect">
            <a:avLst>
              <a:gd name="adj" fmla="val 2837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Matters label"/>
          <p:cNvSpPr txBox="1"/>
          <p:nvPr/>
        </p:nvSpPr>
        <p:spPr>
          <a:xfrm>
            <a:off x="8046720" y="1600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WHY IT MATTERS</a:t>
            </a:r>
            <a:endParaRPr lang="en-US" sz="1200" dirty="0"/>
          </a:p>
        </p:txBody>
      </p:sp>
      <p:sp>
        <p:nvSpPr>
          <p:cNvPr id="21" name="Matters list"/>
          <p:cNvSpPr txBox="1"/>
          <p:nvPr/>
        </p:nvSpPr>
        <p:spPr>
          <a:xfrm>
            <a:off x="8046720" y="2057400"/>
            <a:ext cx="33375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Computers: </a:t>
            </a:r>
            <a:r>
              <a:rPr lang="en-US" sz="1600" dirty="0">
                <a:solidFill>
                  <a:schemeClr val="bg1"/>
                </a:solidFill>
              </a:rPr>
              <a:t>treat walks, walked, and walking as one word, "walk".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Learning English: </a:t>
            </a:r>
            <a:r>
              <a:rPr lang="en-US" sz="1600" dirty="0">
                <a:solidFill>
                  <a:schemeClr val="bg1"/>
                </a:solidFill>
              </a:rPr>
              <a:t>explains mistakes like "goed" instead of "went".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Dictionaries: </a:t>
            </a:r>
            <a:r>
              <a:rPr lang="en-US" sz="1600" dirty="0">
                <a:solidFill>
                  <a:schemeClr val="bg1"/>
                </a:solidFill>
              </a:rPr>
              <a:t>decide which word forms need their own entry.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Comparing languages: </a:t>
            </a:r>
            <a:r>
              <a:rPr lang="en-US" sz="1600" dirty="0">
                <a:solidFill>
                  <a:schemeClr val="bg1"/>
                </a:solidFill>
              </a:rPr>
              <a:t>shows how each language expresses grammar.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rphology">
  <a:themeElements>
    <a:clrScheme name="Morphology">
      <a:dk1>
        <a:srgbClr val="1C2B28"/>
      </a:dk1>
      <a:lt1>
        <a:srgbClr val="FFFFFF"/>
      </a:lt1>
      <a:dk2>
        <a:srgbClr val="123B35"/>
      </a:dk2>
      <a:lt2>
        <a:srgbClr val="E8F2EE"/>
      </a:lt2>
      <a:accent1>
        <a:srgbClr val="1F6F62"/>
      </a:accent1>
      <a:accent2>
        <a:srgbClr val="F2A541"/>
      </a:accent2>
      <a:accent3>
        <a:srgbClr val="E8684A"/>
      </a:accent3>
      <a:accent4>
        <a:srgbClr val="7FB5A8"/>
      </a:accent4>
      <a:accent5>
        <a:srgbClr val="6C4F8F"/>
      </a:accent5>
      <a:accent6>
        <a:srgbClr val="C9D8D2"/>
      </a:accent6>
      <a:hlink>
        <a:srgbClr val="1F6F62"/>
      </a:hlink>
      <a:folHlink>
        <a:srgbClr val="6C4F8F"/>
      </a:folHlink>
    </a:clrScheme>
    <a:fontScheme name="Morpholog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974</Words>
  <Application>Microsoft Office PowerPoint</Application>
  <PresentationFormat>Widescreen</PresentationFormat>
  <Paragraphs>137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Morphology</vt:lpstr>
      <vt:lpstr>Inflectional Morphology</vt:lpstr>
      <vt:lpstr>What Is Inflection?</vt:lpstr>
      <vt:lpstr>Inflection vs Derivation</vt:lpstr>
      <vt:lpstr>What Inflection Shows</vt:lpstr>
      <vt:lpstr>Ways a Word Can Change</vt:lpstr>
      <vt:lpstr>Summary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Inflectional Morphology</dc:title>
  <dc:subject>PptxGenJS Presentation</dc:subject>
  <dc:creator>PptxGenJS</dc:creator>
  <cp:lastModifiedBy>jahanarajasminmd@outlook.com</cp:lastModifiedBy>
  <cp:revision>2</cp:revision>
  <dcterms:created xsi:type="dcterms:W3CDTF">2026-10-22T07:16:09Z</dcterms:created>
  <dcterms:modified xsi:type="dcterms:W3CDTF">2026-10-27T03:47:14Z</dcterms:modified>
</cp:coreProperties>
</file>